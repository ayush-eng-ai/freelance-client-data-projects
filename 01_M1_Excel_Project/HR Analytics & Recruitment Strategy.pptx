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93602"/>
            <a:ext cx="1160145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0A1F44"/>
                </a:solidFill>
                <a:latin typeface="Montserrat"/>
              </a:rPr>
              <a:t>Strategic HR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254573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64748B"/>
                </a:solidFill>
                <a:latin typeface="Open Sans"/>
              </a:rPr>
              <a:t>A Comprehensive Analysis of Recruitment Mix, Performance &amp; Productivity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45148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A1F44"/>
                </a:solidFill>
                <a:latin typeface="Open Sans SemiBold"/>
              </a:rPr>
              <a:t>Presented to: XYZ Limited CEO &amp; Executive Board</a:t>
            </a:r>
            <a:r>
              <a:t>
</a:t>
            </a:r>
            <a:r>
              <a:rPr b="0" sz="1200" i="0" u="none">
                <a:solidFill>
                  <a:srgbClr val="0A1F44"/>
                </a:solidFill>
                <a:latin typeface="Open Sans SemiBold"/>
              </a:rPr>
              <a:t> Date: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90712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71662"/>
            <a:ext cx="55006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A1F44"/>
                </a:solidFill>
                <a:latin typeface="Montserrat"/>
              </a:rPr>
              <a:t>CEO Concerns: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05287"/>
            <a:ext cx="55006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A1F44"/>
                </a:solidFill>
                <a:latin typeface="Montserrat"/>
              </a:rPr>
              <a:t>Analytical Approach: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614862"/>
            <a:ext cx="5238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Leveraged M1 (Excel) and M2 (Python) data to identify performance drivers and evaluate recruitment channels (Campus vs. Lateral).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890712"/>
            <a:ext cx="523875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4875" y="2243137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Stagnating growth rate and low productivity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2690812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Decline in individual employee performance impact on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443287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Concerns regarding team synergy and cross-functional effectiveness.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EXECUTIVE SUMMARY &amp; 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43137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0812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4328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110490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43100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Analysis of employee performance ratings based on their entry route into XYZ Limited.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057900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1E293B"/>
                </a:solidFill>
                <a:latin typeface="Open Sans"/>
              </a:rPr>
              <a:t>Conclusion: Lateral hires show a marginal performance edge (3.3%), validating the Sales Head's preference for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01425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PERFORMANCE BENCHMARK: RECRUITMENT CHANNELS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76200" cy="89535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0712"/>
            <a:ext cx="52387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90712"/>
            <a:ext cx="523875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750" y="1862137"/>
            <a:ext cx="55006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A1F44"/>
                </a:solidFill>
                <a:latin typeface="Montserrat"/>
              </a:rPr>
              <a:t>Key Salary Insights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1750" y="2081212"/>
          <a:ext cx="5238749" cy="2352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39764"/>
                <a:gridCol w="2598985"/>
              </a:tblGrid>
              <a:tr h="58816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Open Sans"/>
                        </a:rPr>
                        <a:t>Recruitment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Open Sans"/>
                        </a:rPr>
                        <a:t>Avg. Monthly Pay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</a:tr>
              <a:tr h="588168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Open Sans"/>
                        </a:rPr>
                        <a:t>Campus Hires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Open Sans"/>
                        </a:rPr>
                        <a:t>$33,485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168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Open Sans"/>
                        </a:rPr>
                        <a:t>Lateral Hires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Open Sans"/>
                        </a:rPr>
                        <a:t>$34,124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8817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Open Sans"/>
                        </a:rPr>
                        <a:t>Difference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Open Sans"/>
                        </a:rPr>
                        <a:t>+$639 (1.9%)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81750" y="4624387"/>
            <a:ext cx="5238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Open Sans"/>
              </a:rPr>
              <a:t>Strategic Value:</a:t>
            </a:r>
            <a:r>
              <a:rPr b="0" sz="1500" i="0" u="none">
                <a:solidFill>
                  <a:srgbClr val="1E293B"/>
                </a:solidFill>
                <a:latin typeface="Open Sans"/>
              </a:rPr>
              <a:t> For only a 1.9% higher cost, Lateral hires provide a higher performance baseline and lower training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1750" y="3257550"/>
            <a:ext cx="263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21514" y="3257550"/>
            <a:ext cx="2598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1750" y="3838575"/>
            <a:ext cx="263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21514" y="3838575"/>
            <a:ext cx="2598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1750" y="4419600"/>
            <a:ext cx="263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21514" y="4419600"/>
            <a:ext cx="2598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COMPENSATION ANALYSIS: COST OF TALENT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38575"/>
            <a:ext cx="110490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71600"/>
            <a:ext cx="3492400" cy="2181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650" y="1371600"/>
            <a:ext cx="3492549" cy="2181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950" y="1371600"/>
            <a:ext cx="3492400" cy="2181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38575"/>
            <a:ext cx="11049000" cy="2381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1657350"/>
            <a:ext cx="306694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1F44"/>
                </a:solidFill>
                <a:latin typeface="Montserrat"/>
              </a:rPr>
              <a:t>Tier 1 Preference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124075"/>
            <a:ext cx="2920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Campus Tier 1 candidates consistently outperform Tier 2 by 12% in the first 12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400" y="1657350"/>
            <a:ext cx="30671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1F44"/>
                </a:solidFill>
                <a:latin typeface="Montserrat"/>
              </a:rPr>
              <a:t>College Grades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400" y="2124075"/>
            <a:ext cx="29210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Strong correlation between Grade 'A' (Grade 8-9) and Performance Rating of 4+.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3700" y="1657350"/>
            <a:ext cx="306694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1F44"/>
                </a:solidFill>
                <a:latin typeface="Montserrat"/>
              </a:rPr>
              <a:t>Psychometric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3700" y="2124075"/>
            <a:ext cx="2920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Scores &gt; 75 in Psychometric testing are leading indicators of longevity.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IDENTIFYING HIGH-PERFORMING CAMPUS TALENT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48212"/>
            <a:ext cx="4953000" cy="82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090612"/>
            <a:ext cx="5000625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OPTIMIZING LATERAL HIRES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90612"/>
            <a:ext cx="76200" cy="89535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462212"/>
            <a:ext cx="495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To maximize ROI on lateral recruitment, the data suggests targeting professionals with 5-8 years of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57612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Candidates from Company Type 'L1' and 'L2' integrated 30% faster into our organizational culture.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18859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514975"/>
            <a:ext cx="11049000" cy="64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04925"/>
            <a:ext cx="11049000" cy="5048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95425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Comparison of Performance Scores before and after the 2019 Productivity Workshop.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819" y="5764113"/>
            <a:ext cx="2608212" cy="1556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MEASURING PRODUCTIVITY: TRAINING ROI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424112"/>
            <a:ext cx="523875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24100"/>
            <a:ext cx="55006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A1F44"/>
                </a:solidFill>
                <a:latin typeface="Montserrat"/>
              </a:rPr>
              <a:t>Key Findings from 30-Person Survey: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0" y="2709862"/>
            <a:ext cx="466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00D2FF"/>
                </a:solidFill>
                <a:latin typeface="Open Sans"/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4043362"/>
            <a:ext cx="4667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Reduction in friction for teams with high Collaboration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2695575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Open Sans"/>
              </a:rPr>
              <a:t>Direct Correlation:</a:t>
            </a:r>
            <a:r>
              <a:rPr b="0" sz="1500" i="0" u="none">
                <a:solidFill>
                  <a:srgbClr val="1E293B"/>
                </a:solidFill>
                <a:latin typeface="Open Sans"/>
              </a:rPr>
              <a:t> High "Team Player Scores" (8+) resulted in 40% fewer Detractors in NPS surveys.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448050"/>
            <a:ext cx="4905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Open Sans"/>
              </a:rPr>
              <a:t>Manager's Intuition:</a:t>
            </a:r>
            <a:r>
              <a:rPr b="0" sz="1500" i="0" u="none">
                <a:solidFill>
                  <a:srgbClr val="1E293B"/>
                </a:solidFill>
                <a:latin typeface="Open Sans"/>
              </a:rPr>
              <a:t> Managers were correct—employees with better interpersonal ratings had 15% higher role clarity.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505325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Open Sans"/>
              </a:rPr>
              <a:t>Action:</a:t>
            </a:r>
            <a:r>
              <a:rPr b="0" sz="1500" i="0" u="none">
                <a:solidFill>
                  <a:srgbClr val="1E293B"/>
                </a:solidFill>
                <a:latin typeface="Open Sans"/>
              </a:rPr>
              <a:t> Implement mandatory team-building modules for low-performing departments.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TEAMWORK VS. INDIVIDUAL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9557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48050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053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11049000" cy="4981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33537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Year-on-Year growth analysis correlating HR initiatives with company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653087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Revenue acceleration in 2019 aligns with the implementation of advanced Training and Lateral Hiring initiatives.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THE BOTTOM LINE: REVENUE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7912"/>
            <a:ext cx="3492400" cy="2895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347912"/>
            <a:ext cx="3492549" cy="2895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50" y="2347912"/>
            <a:ext cx="3492400" cy="289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633662"/>
            <a:ext cx="306694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1F44"/>
                </a:solidFill>
                <a:latin typeface="Montserrat"/>
              </a:rPr>
              <a:t>Recommended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052762"/>
            <a:ext cx="29209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4500" i="0" u="none">
                <a:solidFill>
                  <a:srgbClr val="00D2FF"/>
                </a:solidFill>
                <a:latin typeface="Open Sans"/>
              </a:rPr>
              <a:t>40/60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14762"/>
            <a:ext cx="2920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40% Campus (Cost-Efficiency) / 60% Lateral (Immediate Productivity).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5400" y="2633662"/>
            <a:ext cx="30671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1F44"/>
                </a:solidFill>
                <a:latin typeface="Montserrat"/>
              </a:rPr>
              <a:t>Campus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400" y="3100387"/>
            <a:ext cx="29210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Tier 1 Recruitment only. Mandatory Grade 8+ and Psychometric vetting.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3700" y="2633662"/>
            <a:ext cx="306694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1F44"/>
                </a:solidFill>
                <a:latin typeface="Montserrat"/>
              </a:rPr>
              <a:t>Team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3700" y="3100387"/>
            <a:ext cx="2920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Open Sans"/>
              </a:rPr>
              <a:t>Quarterly "Team Synergy" workshops to sustain the 12.7% growth trajectory.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STRATEGIC RECOMMENDATION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2900362"/>
            <a:ext cx="10715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Open Sans"/>
              </a:rPr>
              <a:t>Immediate:</a:t>
            </a:r>
            <a:r>
              <a:rPr b="0" sz="1500" i="0" u="none">
                <a:solidFill>
                  <a:srgbClr val="1E293B"/>
                </a:solidFill>
                <a:latin typeface="Open Sans"/>
              </a:rPr>
              <a:t> Roll out the 'Tier 1' Hiring Drive for the upcoming Campus season.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3348037"/>
            <a:ext cx="10715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Open Sans"/>
              </a:rPr>
              <a:t>August:</a:t>
            </a:r>
            <a:r>
              <a:rPr b="0" sz="1500" i="0" u="none">
                <a:solidFill>
                  <a:srgbClr val="1E293B"/>
                </a:solidFill>
                <a:latin typeface="Open Sans"/>
              </a:rPr>
              <a:t> Merge Attrition Data (M2) to identify why high-potential Lateral hires leave.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795712"/>
            <a:ext cx="10715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Open Sans"/>
              </a:rPr>
              <a:t>Q3:</a:t>
            </a:r>
            <a:r>
              <a:rPr b="0" sz="1500" i="0" u="none">
                <a:solidFill>
                  <a:srgbClr val="1E293B"/>
                </a:solidFill>
                <a:latin typeface="Open Sans"/>
              </a:rPr>
              <a:t> Launch Tableau Dashboards for real-time tracking of NPS and Satisfaction.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243387"/>
            <a:ext cx="10715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Open Sans"/>
              </a:rPr>
              <a:t>Q4:</a:t>
            </a:r>
            <a:r>
              <a:rPr b="0" sz="1500" i="0" u="none">
                <a:solidFill>
                  <a:srgbClr val="1E293B"/>
                </a:solidFill>
                <a:latin typeface="Open Sans"/>
              </a:rPr>
              <a:t> Review Revenue impact of the 40/60 Hiring Mix.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NEXT STEPS: FROM INSIGHTS TO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036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480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9571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4338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282279"/>
            <a:ext cx="1160145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0A1F44"/>
                </a:solidFill>
                <a:latin typeface="Montserra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43250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Open Sans"/>
              </a:rPr>
              <a:t>Thank you for your time. Let's build a more productive XYZ Limited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1852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Open Sans"/>
              </a:rPr>
              <a:t>Analytics Prepared by: Data Solutions Team</a:t>
            </a:r>
            <a:r>
              <a:t>
</a:t>
            </a:r>
            <a:r>
              <a:rPr b="0" sz="1350" i="0" u="none">
                <a:solidFill>
                  <a:srgbClr val="64748B"/>
                </a:solidFill>
                <a:latin typeface="Open Sans"/>
              </a:rPr>
              <a:t> Contact: hr-analytics@xyzlimited.com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933723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718494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01355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7089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089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6918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6918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746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746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3147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07659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1E293B"/>
                </a:solidFill>
                <a:latin typeface="Open Sans"/>
              </a:rPr>
              <a:t>https://www.jbs.cam.ac.uk/wp-content/uploads/2023/06/executive-education-participant-talking-703x396-1.jpg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322314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E293B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www.jbs.cam.ac.uk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6703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2861369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1E293B"/>
                </a:solidFill>
                <a:latin typeface="Open Sans"/>
              </a:rPr>
              <a:t>https://media.istockphoto.com/id/2193504232/photo/high-tech-blue-data-analytics-interface-with-glowing-bar-charts-graphs-and-a-futuristic.jpg?s=612x612&amp;w=0&amp;k=20&amp;c=wUIUmOsOPazPvyrNDwMwwnFhOfci-EliIPXy6uTs0LE=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30517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E293B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www.istockphoto.com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4989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3844230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1E293B"/>
                </a:solidFill>
                <a:latin typeface="Open Sans"/>
              </a:rPr>
              <a:t>https://www.gcsu.edu/sites/default/files/styles/hero_image/public/images/2021/2021-01/Mock%20Interview%20Teacher%20Recruitment%20Day.jpg?h=b2774bcf&amp;itok=3SS_B1On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8803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E293B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www.gcsu.edu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32759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82709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1E293B"/>
                </a:solidFill>
                <a:latin typeface="Open Sans"/>
              </a:rPr>
              <a:t>https://media.istockphoto.com/id/2190572426/photo/diverse-team-posing-for-an-enthusiastic-group-selfie-in-modern-office.jpg?s=612x612&amp;w=0&amp;k=20&amp;c=bOOlS3WoUA3BRDKI6CExBcph_NChLV1fD0ECj4TERHs=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27089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E293B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www.istockphoto.com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A1F44"/>
                </a:solidFill>
                <a:latin typeface="Montserrat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