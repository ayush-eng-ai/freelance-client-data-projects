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4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5421" y="2077342"/>
            <a:ext cx="9261157" cy="781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1A365D"/>
                </a:solidFill>
                <a:latin typeface="Montserrat"/>
              </a:rPr>
              <a:t>Employee Attrition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1685925" y="2915542"/>
            <a:ext cx="8820150" cy="38100"/>
          </a:xfrm>
          <a:prstGeom prst="rect">
            <a:avLst/>
          </a:prstGeom>
          <a:solidFill>
            <a:srgbClr val="429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338512" y="3410842"/>
            <a:ext cx="5514975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2B6CB0"/>
                </a:solidFill>
                <a:latin typeface="Inter SemiBold"/>
              </a:rPr>
              <a:t>Data-Driven Insights on Why Talent Leaves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4750" y="4580483"/>
            <a:ext cx="4762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718096"/>
                </a:solidFill>
                <a:latin typeface="Inter"/>
              </a:rPr>
              <a:t>Prepared for Human Resources Management | Project M2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514475"/>
            <a:ext cx="3365450" cy="3257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200" y="1514475"/>
            <a:ext cx="3365450" cy="3257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1514475"/>
            <a:ext cx="3365599" cy="3257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2500" y="381000"/>
            <a:ext cx="1100137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A365D"/>
                </a:solidFill>
                <a:latin typeface="Montserrat"/>
              </a:rPr>
              <a:t>PROJECT 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81000"/>
            <a:ext cx="76200" cy="466725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1943100"/>
            <a:ext cx="3810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3000" y="2514600"/>
            <a:ext cx="273362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A365D"/>
                </a:solidFill>
                <a:latin typeface="Montserrat"/>
              </a:rPr>
              <a:t>Identify Causes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981325"/>
            <a:ext cx="26034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2D3748"/>
                </a:solidFill>
                <a:latin typeface="Inter"/>
              </a:rPr>
              <a:t>Analyze key factors like salary and workload that contribute to employees leaving the firm.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4200" y="1943100"/>
            <a:ext cx="476250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94200" y="2514600"/>
            <a:ext cx="273362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A365D"/>
                </a:solidFill>
                <a:latin typeface="Montserrat"/>
              </a:rPr>
              <a:t>Attrition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4200" y="2981325"/>
            <a:ext cx="26034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2D3748"/>
                </a:solidFill>
                <a:latin typeface="Inter"/>
              </a:rPr>
              <a:t>Distinguish behavioral differences between employees who stay versus those who exit.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5400" y="1943100"/>
            <a:ext cx="285750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45400" y="2514600"/>
            <a:ext cx="2733779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A365D"/>
                </a:solidFill>
                <a:latin typeface="Montserrat"/>
              </a:rPr>
              <a:t>Retention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5400" y="2981325"/>
            <a:ext cx="26035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2D3748"/>
                </a:solidFill>
                <a:latin typeface="Inter"/>
              </a:rPr>
              <a:t>Provide actionable recommendations to reduce turnover and boost employee morale.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500" y="381000"/>
            <a:ext cx="1100137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A365D"/>
                </a:solidFill>
                <a:latin typeface="Montserrat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381000"/>
            <a:ext cx="76200" cy="466725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3071812"/>
            <a:ext cx="433387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sz="9000" b="0" i="0" u="none">
                <a:solidFill>
                  <a:srgbClr val="E53E3E"/>
                </a:solidFill>
                <a:latin typeface="Inter ExtraBold"/>
              </a:rPr>
              <a:t>8.32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214812"/>
            <a:ext cx="433387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718096"/>
                </a:solidFill>
                <a:latin typeface="Inter SemiBold"/>
              </a:rPr>
              <a:t>Avg. Hours (Exited)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2936527"/>
            <a:ext cx="509587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2D3748"/>
                </a:solidFill>
                <a:latin typeface="Inter SemiBold"/>
              </a:rPr>
              <a:t>The Data Tells a Story: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4125" y="3492698"/>
            <a:ext cx="50958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2D3748"/>
                </a:solidFill>
                <a:latin typeface="Inter"/>
              </a:rPr>
              <a:t>Our analysis reveals a clear correlation: employees leaving the organization are </a:t>
            </a:r>
            <a:r>
              <a:rPr sz="1500" b="1" i="0" u="none">
                <a:solidFill>
                  <a:srgbClr val="2D3748"/>
                </a:solidFill>
                <a:latin typeface="Inter"/>
              </a:rPr>
              <a:t>overworked</a:t>
            </a:r>
            <a:r>
              <a:rPr sz="1500" b="0" i="0" u="none">
                <a:solidFill>
                  <a:srgbClr val="2D3748"/>
                </a:solidFill>
                <a:latin typeface="Inter"/>
              </a:rPr>
              <a:t>, </a:t>
            </a:r>
            <a:r>
              <a:rPr sz="1500" b="1" i="0" u="none">
                <a:solidFill>
                  <a:srgbClr val="2D3748"/>
                </a:solidFill>
                <a:latin typeface="Inter"/>
              </a:rPr>
              <a:t>underpaid</a:t>
            </a:r>
            <a:r>
              <a:rPr sz="1500" b="0" i="0" u="none">
                <a:solidFill>
                  <a:srgbClr val="2D3748"/>
                </a:solidFill>
                <a:latin typeface="Inter"/>
              </a:rPr>
              <a:t>, and </a:t>
            </a:r>
            <a:r>
              <a:rPr sz="1500" b="1" i="0" u="none">
                <a:solidFill>
                  <a:srgbClr val="2D3748"/>
                </a:solidFill>
                <a:latin typeface="Inter"/>
              </a:rPr>
              <a:t>dissatisfied</a:t>
            </a:r>
            <a:r>
              <a:rPr sz="1500" b="0" i="0" u="none">
                <a:solidFill>
                  <a:srgbClr val="2D3748"/>
                </a:solidFill>
                <a:latin typeface="Inter"/>
              </a:rPr>
              <a:t> with their environment compared to their peers who stay.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0" y="381000"/>
            <a:ext cx="1100137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A365D"/>
                </a:solidFill>
                <a:latin typeface="Montserrat"/>
              </a:rPr>
              <a:t>THE BURDEN OF LONG HOURS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81000"/>
            <a:ext cx="76200" cy="466725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133475"/>
            <a:ext cx="10668000" cy="5343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662112"/>
            <a:ext cx="5095875" cy="4286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2500" y="381000"/>
            <a:ext cx="1100137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A365D"/>
                </a:solidFill>
                <a:latin typeface="Montserrat"/>
              </a:rPr>
              <a:t>COMPENSATION &amp; INCOME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81000"/>
            <a:ext cx="76200" cy="466725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1662112"/>
            <a:ext cx="5095875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662112"/>
            <a:ext cx="5095875" cy="428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676650"/>
            <a:ext cx="5095875" cy="1562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2500" y="381000"/>
            <a:ext cx="1100137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A365D"/>
                </a:solidFill>
                <a:latin typeface="Montserrat"/>
              </a:rPr>
              <a:t>WORKPLACE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81000"/>
            <a:ext cx="76200" cy="466725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2371725"/>
            <a:ext cx="5350668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1A365D"/>
                </a:solidFill>
                <a:latin typeface="Montserrat"/>
              </a:rPr>
              <a:t>Culture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781300"/>
            <a:ext cx="50958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2D3748"/>
                </a:solidFill>
                <a:latin typeface="Inter"/>
              </a:rPr>
              <a:t>Environment satisfaction scores (on a scale of 1-4) show a significant dip for employees who left.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1662112"/>
            <a:ext cx="5095875" cy="428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2500" y="4057650"/>
            <a:ext cx="47148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2D3748"/>
                </a:solidFill>
                <a:latin typeface="Inter"/>
              </a:rPr>
              <a:t>Stayed:</a:t>
            </a:r>
            <a:r>
              <a:rPr sz="1500" b="0" i="0" u="none">
                <a:solidFill>
                  <a:srgbClr val="2D3748"/>
                </a:solidFill>
                <a:latin typeface="Inter"/>
              </a:rPr>
              <a:t> 2.77 / 4.00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552950"/>
            <a:ext cx="47148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2D3748"/>
                </a:solidFill>
                <a:latin typeface="Inter"/>
              </a:rPr>
              <a:t>Left:</a:t>
            </a:r>
            <a:r>
              <a:rPr sz="1500" b="0" i="0" u="none">
                <a:solidFill>
                  <a:srgbClr val="2D3748"/>
                </a:solidFill>
                <a:latin typeface="Inter"/>
              </a:rPr>
              <a:t> 2.47 / 4.00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0" y="381000"/>
            <a:ext cx="1100137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A365D"/>
                </a:solidFill>
                <a:latin typeface="Montserrat"/>
              </a:rPr>
              <a:t>AVERAGE JOB SATISFACTION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81000"/>
            <a:ext cx="76200" cy="466725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133475"/>
            <a:ext cx="5095875" cy="5343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133475"/>
            <a:ext cx="5095875" cy="53435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2500" y="381000"/>
            <a:ext cx="1100137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A365D"/>
                </a:solidFill>
                <a:latin typeface="Montserrat"/>
              </a:rPr>
              <a:t>THE "EXIT TRIGGER"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81000"/>
            <a:ext cx="76200" cy="466725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562100"/>
            <a:ext cx="38100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2133600"/>
            <a:ext cx="4550568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A365D"/>
                </a:solidFill>
                <a:latin typeface="Montserrat"/>
              </a:rPr>
              <a:t>High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00325"/>
            <a:ext cx="43338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2D3748"/>
                </a:solidFill>
                <a:latin typeface="Inter"/>
              </a:rPr>
              <a:t>Consistent overtime (8.3+ hrs) leads to burnout and reduced engagement.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25" y="1562100"/>
            <a:ext cx="428625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15125" y="2133600"/>
            <a:ext cx="4550568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A365D"/>
                </a:solidFill>
                <a:latin typeface="Montserrat"/>
              </a:rPr>
              <a:t>Low Reward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5125" y="2600325"/>
            <a:ext cx="43338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2D3748"/>
                </a:solidFill>
                <a:latin typeface="Inter"/>
              </a:rPr>
              <a:t>Lower average income (₹61k) makes external opportunities more attractive.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500" y="381000"/>
            <a:ext cx="1100137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A365D"/>
                </a:solidFill>
                <a:latin typeface="Montserrat"/>
              </a:rPr>
              <a:t>RETENTION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381000"/>
            <a:ext cx="76200" cy="466725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19200" y="1285875"/>
            <a:ext cx="1021080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Inter"/>
              </a:rPr>
              <a:t>Work-Life Balance:</a:t>
            </a:r>
            <a:r>
              <a:rPr sz="1800" b="0" i="0" u="none">
                <a:solidFill>
                  <a:srgbClr val="000000"/>
                </a:solidFill>
                <a:latin typeface="Inter"/>
              </a:rPr>
              <a:t> Cap daily working hours and encourage breaks to prevent burnout.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1800225"/>
            <a:ext cx="1021080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Inter"/>
              </a:rPr>
              <a:t>Competitive Pay:</a:t>
            </a:r>
            <a:r>
              <a:rPr sz="1800" b="0" i="0" u="none">
                <a:solidFill>
                  <a:srgbClr val="000000"/>
                </a:solidFill>
                <a:latin typeface="Inter"/>
              </a:rPr>
              <a:t> Review salary benchmarks to ensure high-performing talent is paid fairly.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314575"/>
            <a:ext cx="1021080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Inter"/>
              </a:rPr>
              <a:t>Culture Improvement:</a:t>
            </a:r>
            <a:r>
              <a:rPr sz="1800" b="0" i="0" u="none">
                <a:solidFill>
                  <a:srgbClr val="000000"/>
                </a:solidFill>
                <a:latin typeface="Inter"/>
              </a:rPr>
              <a:t> Conduct regular feedback sessions to improve office environment satisfaction.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105150"/>
            <a:ext cx="1021080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Inter"/>
              </a:rPr>
              <a:t>Engagement Programs:</a:t>
            </a:r>
            <a:r>
              <a:rPr sz="1800" b="0" i="0" u="none">
                <a:solidFill>
                  <a:srgbClr val="000000"/>
                </a:solidFill>
                <a:latin typeface="Inter"/>
              </a:rPr>
              <a:t> Increase job satisfaction through recognition and career growth paths.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285875"/>
            <a:ext cx="266700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800225"/>
            <a:ext cx="266700" cy="2762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452687"/>
            <a:ext cx="266700" cy="2762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243262"/>
            <a:ext cx="266700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19750" y="2419350"/>
            <a:ext cx="952500" cy="47625"/>
          </a:xfrm>
          <a:prstGeom prst="rect">
            <a:avLst/>
          </a:prstGeom>
          <a:solidFill>
            <a:srgbClr val="429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60658" y="2752725"/>
            <a:ext cx="5470683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1A365D"/>
                </a:solidFill>
                <a:latin typeface="Montserrat"/>
              </a:rPr>
              <a:t>Final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638550"/>
            <a:ext cx="7620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2D3748"/>
                </a:solidFill>
                <a:latin typeface="Inter"/>
              </a:rPr>
              <a:t>Attrition is a result of multiple factors. By balancing workloads and aligning compensation with satisfaction, we can significantly reduce talent loss.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50706" y="2528887"/>
            <a:ext cx="4690586" cy="923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2B6CB0"/>
                </a:solidFill>
                <a:latin typeface="Montserrat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48162" y="3833812"/>
            <a:ext cx="34956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2D3748"/>
                </a:solidFill>
                <a:latin typeface="Inter"/>
              </a:rPr>
              <a:t>Thank you for your time and attention.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25791" y="2559397"/>
            <a:ext cx="334041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A365D"/>
                </a:solidFill>
                <a:latin typeface="Montserrat"/>
              </a:rPr>
              <a:t>Employee Attrition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00550" y="3026122"/>
            <a:ext cx="33909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2D3748"/>
                </a:solidFill>
                <a:latin typeface="Inter"/>
              </a:rPr>
              <a:t>Analyzing People, Predicting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1150" y="3902422"/>
            <a:ext cx="14097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2D3748"/>
                </a:solidFill>
                <a:latin typeface="Inter"/>
              </a:rPr>
              <a:t>End of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292</Words>
  <Application>Microsoft Office PowerPoint</Application>
  <PresentationFormat>Widescreen</PresentationFormat>
  <Paragraphs>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Inter</vt:lpstr>
      <vt:lpstr>Inter ExtraBold</vt:lpstr>
      <vt:lpstr>Inter SemiBold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Rajput</cp:lastModifiedBy>
  <cp:revision>2</cp:revision>
  <dcterms:created xsi:type="dcterms:W3CDTF">2013-01-27T09:14:16Z</dcterms:created>
  <dcterms:modified xsi:type="dcterms:W3CDTF">2026-07-24T12:17:27Z</dcterms:modified>
  <cp:category/>
</cp:coreProperties>
</file>