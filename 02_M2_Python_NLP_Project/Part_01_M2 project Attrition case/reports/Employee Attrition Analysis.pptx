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5421" y="2077342"/>
            <a:ext cx="9261157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A365D"/>
                </a:solidFill>
                <a:latin typeface="Montserrat"/>
              </a:rPr>
              <a:t>Employee Attrition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85925" y="2915542"/>
            <a:ext cx="8820150" cy="38100"/>
          </a:xfrm>
          <a:prstGeom prst="rect">
            <a:avLst/>
          </a:prstGeom>
          <a:solidFill>
            <a:srgbClr val="429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38512" y="3410842"/>
            <a:ext cx="5514975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2B6CB0"/>
                </a:solidFill>
                <a:latin typeface="Inter SemiBold"/>
              </a:rPr>
              <a:t>Data-Driven Insights on Why Talent Leaves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50" y="4580483"/>
            <a:ext cx="476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718096"/>
                </a:solidFill>
                <a:latin typeface="Inter"/>
              </a:rPr>
              <a:t>Prepared for Human Resources Management | Project 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4475"/>
            <a:ext cx="3365450" cy="3257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514475"/>
            <a:ext cx="3365450" cy="3257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514475"/>
            <a:ext cx="3365599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PROJECT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9431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2514600"/>
            <a:ext cx="2733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Montserrat"/>
              </a:rPr>
              <a:t>Identify Causes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81325"/>
            <a:ext cx="2603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Analyze key factors like salary and workload that contribute to employees leaving the firm.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200" y="1943100"/>
            <a:ext cx="4762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94200" y="2514600"/>
            <a:ext cx="2733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Montserrat"/>
              </a:rPr>
              <a:t>Attrition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200" y="2981325"/>
            <a:ext cx="2603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Distinguish behavioral differences between employees who stay versus those who exit.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400" y="1943100"/>
            <a:ext cx="2857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5400" y="2514600"/>
            <a:ext cx="273377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Montserrat"/>
              </a:rPr>
              <a:t>Retention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5400" y="2981325"/>
            <a:ext cx="26035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Provide actionable recommendations to reduce turnover and boost employee morale.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071812"/>
            <a:ext cx="43338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0" sz="9000" i="0" u="none">
                <a:solidFill>
                  <a:srgbClr val="E53E3E"/>
                </a:solidFill>
                <a:latin typeface="Inter ExtraBold"/>
              </a:rPr>
              <a:t>8.32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214812"/>
            <a:ext cx="4333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718096"/>
                </a:solidFill>
                <a:latin typeface="Inter SemiBold"/>
              </a:rPr>
              <a:t>Avg. Hours (Exited)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936527"/>
            <a:ext cx="50958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2D3748"/>
                </a:solidFill>
                <a:latin typeface="Inter SemiBold"/>
              </a:rPr>
              <a:t>The Data Tells a Story: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492698"/>
            <a:ext cx="50958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Our analysis reveals a clear correlation: employees leaving the organization are </a:t>
            </a:r>
            <a:r>
              <a:rPr b="1" sz="1500" i="0" u="none">
                <a:solidFill>
                  <a:srgbClr val="2D3748"/>
                </a:solidFill>
                <a:latin typeface="Inter"/>
              </a:rPr>
              <a:t>overworked</a:t>
            </a:r>
            <a:r>
              <a:rPr b="0" sz="1500" i="0" u="none">
                <a:solidFill>
                  <a:srgbClr val="2D3748"/>
                </a:solidFill>
                <a:latin typeface="Inter"/>
              </a:rPr>
              <a:t>, </a:t>
            </a:r>
            <a:r>
              <a:rPr b="1" sz="1500" i="0" u="none">
                <a:solidFill>
                  <a:srgbClr val="2D3748"/>
                </a:solidFill>
                <a:latin typeface="Inter"/>
              </a:rPr>
              <a:t>underpaid</a:t>
            </a:r>
            <a:r>
              <a:rPr b="0" sz="1500" i="0" u="none">
                <a:solidFill>
                  <a:srgbClr val="2D3748"/>
                </a:solidFill>
                <a:latin typeface="Inter"/>
              </a:rPr>
              <a:t>, and </a:t>
            </a:r>
            <a:r>
              <a:rPr b="1" sz="1500" i="0" u="none">
                <a:solidFill>
                  <a:srgbClr val="2D3748"/>
                </a:solidFill>
                <a:latin typeface="Inter"/>
              </a:rPr>
              <a:t>dissatisfied</a:t>
            </a:r>
            <a:r>
              <a:rPr b="0" sz="1500" i="0" u="none">
                <a:solidFill>
                  <a:srgbClr val="2D3748"/>
                </a:solidFill>
                <a:latin typeface="Inter"/>
              </a:rPr>
              <a:t> with their environment compared to their peers who stay.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THE BURDEN OF LONG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33475"/>
            <a:ext cx="10668000" cy="534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COMPENSATION &amp; INCOME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76650"/>
            <a:ext cx="5095875" cy="1562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WORKPLACE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371725"/>
            <a:ext cx="535066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A365D"/>
                </a:solidFill>
                <a:latin typeface="Montserrat"/>
              </a:rPr>
              <a:t>Culture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81300"/>
            <a:ext cx="50958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Environment satisfaction scores (on a scale of 1-4) show a significant dip for employees who left.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662112"/>
            <a:ext cx="5095875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4057650"/>
            <a:ext cx="4714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D3748"/>
                </a:solidFill>
                <a:latin typeface="Inter"/>
              </a:rPr>
              <a:t>Stayed:</a:t>
            </a:r>
            <a:r>
              <a:rPr b="0" sz="1500" i="0" u="none">
                <a:solidFill>
                  <a:srgbClr val="2D3748"/>
                </a:solidFill>
                <a:latin typeface="Inter"/>
              </a:rPr>
              <a:t> 2.77 / 4.00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52950"/>
            <a:ext cx="4714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2D3748"/>
                </a:solidFill>
                <a:latin typeface="Inter"/>
              </a:rPr>
              <a:t>Left:</a:t>
            </a:r>
            <a:r>
              <a:rPr b="0" sz="1500" i="0" u="none">
                <a:solidFill>
                  <a:srgbClr val="2D3748"/>
                </a:solidFill>
                <a:latin typeface="Inter"/>
              </a:rPr>
              <a:t> 2.47 / 4.00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AVERAGE JOB SATISFACTION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33475"/>
            <a:ext cx="5095875" cy="534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133475"/>
            <a:ext cx="5095875" cy="5343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THE "EXIT TRIGGER"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56210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2133600"/>
            <a:ext cx="455056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Montserrat"/>
              </a:rPr>
              <a:t>High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0325"/>
            <a:ext cx="43338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Consistent overtime (8.3+ hrs) leads to burnout and reduced engagement.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1562100"/>
            <a:ext cx="42862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15125" y="2133600"/>
            <a:ext cx="455056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Montserrat"/>
              </a:rPr>
              <a:t>Low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600325"/>
            <a:ext cx="43338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Lower average income (₹61k) makes external opportunities more attractive.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81000"/>
            <a:ext cx="11001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RETENTION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810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200" y="1285875"/>
            <a:ext cx="102108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Work-Life Balance:</a:t>
            </a:r>
            <a:r>
              <a:rPr b="0" sz="1800" i="0" u="none">
                <a:solidFill>
                  <a:srgbClr val="000000"/>
                </a:solidFill>
                <a:latin typeface="Inter"/>
              </a:rPr>
              <a:t> Cap daily working hours and encourage breaks to prevent burnout.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800225"/>
            <a:ext cx="102108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Competitive Pay:</a:t>
            </a:r>
            <a:r>
              <a:rPr b="0" sz="1800" i="0" u="none">
                <a:solidFill>
                  <a:srgbClr val="000000"/>
                </a:solidFill>
                <a:latin typeface="Inter"/>
              </a:rPr>
              <a:t> Review salary benchmarks to ensure high-performing talent is paid fairly.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314575"/>
            <a:ext cx="10210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Culture Improvement:</a:t>
            </a:r>
            <a:r>
              <a:rPr b="0" sz="1800" i="0" u="none">
                <a:solidFill>
                  <a:srgbClr val="000000"/>
                </a:solidFill>
                <a:latin typeface="Inter"/>
              </a:rPr>
              <a:t> Conduct regular feedback sessions to improve office environment satisfaction.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105150"/>
            <a:ext cx="10210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Engagement Programs:</a:t>
            </a:r>
            <a:r>
              <a:rPr b="0" sz="1800" i="0" u="none">
                <a:solidFill>
                  <a:srgbClr val="000000"/>
                </a:solidFill>
                <a:latin typeface="Inter"/>
              </a:rPr>
              <a:t> Increase job satisfaction through recognition and career growth paths.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85875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0225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52687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43262"/>
            <a:ext cx="2667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419350"/>
            <a:ext cx="952500" cy="47625"/>
          </a:xfrm>
          <a:prstGeom prst="rect">
            <a:avLst/>
          </a:prstGeom>
          <a:solidFill>
            <a:srgbClr val="429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60658" y="2752725"/>
            <a:ext cx="5470683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1A365D"/>
                </a:solidFill>
                <a:latin typeface="Montserrat"/>
              </a:rPr>
              <a:t>Final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385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Attrition is a result of multiple factors. By balancing workloads and aligning compensation with satisfaction, we can significantly reduce talent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0706" y="2528887"/>
            <a:ext cx="4690586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2B6CB0"/>
                </a:solidFill>
                <a:latin typeface="Montserra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8162" y="3833812"/>
            <a:ext cx="3495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25791" y="2559397"/>
            <a:ext cx="334041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A365D"/>
                </a:solidFill>
                <a:latin typeface="Montserrat"/>
              </a:rPr>
              <a:t>Employee Attrition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550" y="3026122"/>
            <a:ext cx="3390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2D3748"/>
                </a:solidFill>
                <a:latin typeface="Inter"/>
              </a:rPr>
              <a:t>Analyzing People, Predicting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1150" y="3902422"/>
            <a:ext cx="14097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2D3748"/>
                </a:solidFill>
                <a:latin typeface="Inter"/>
              </a:rPr>
              <a:t>End of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A365D"/>
                </a:solidFill>
                <a:latin typeface="Montserrat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1704975"/>
            <a:ext cx="9525000" cy="11809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2885926"/>
            <a:ext cx="9525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2876401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2876401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0" y="385926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385926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052488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28875" y="1847850"/>
            <a:ext cx="842962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https://static.vecteezy.com/system/resources/previews/066/038/107/non_2x/salary-or-wages-employee-income-or-career-development-job-performance-pay-equality-or-motivation-to-career-growth-concept-business-people-on-growing-money-coins-as-salary-or-wages-payment-vector.jpg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875" y="2489745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34469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28875" y="3028801"/>
            <a:ext cx="8429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https://cdn.prod.website-files.com/6486cea2e365df2928fc33bd/67c1515bb8ef64911e46c942_Ideas%20to%20improve%20workplace%20Singapore.webp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875" y="3472606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www.praisepal.com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18210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875" y="4011662"/>
            <a:ext cx="8429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https://images.presentationgo.com/2025/05/business-team-collaboration-office.jpg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875" y="4257377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www.presentationgo.com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