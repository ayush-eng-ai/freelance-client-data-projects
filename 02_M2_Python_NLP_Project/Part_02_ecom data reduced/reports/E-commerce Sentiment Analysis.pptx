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837" y="1480244"/>
            <a:ext cx="7172325" cy="38973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40605" y="2061269"/>
            <a:ext cx="6310788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4F46E5"/>
                </a:solidFill>
                <a:latin typeface="Outfit"/>
              </a:rPr>
              <a:t>E-commerce</a:t>
            </a:r>
            <a:r>
              <a:t>
</a:t>
            </a:r>
            <a:r>
              <a:rPr b="1" sz="5400" i="0" u="none">
                <a:solidFill>
                  <a:srgbClr val="4F46E5"/>
                </a:solidFill>
                <a:latin typeface="Outfit"/>
              </a:rPr>
              <a:t> Sentiment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0862" y="3855541"/>
            <a:ext cx="6010275" cy="4266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100" i="0" u="none">
                <a:solidFill>
                  <a:srgbClr val="475569"/>
                </a:solidFill>
                <a:latin typeface="Plus Jakarta Sans SemiBold"/>
              </a:rPr>
              <a:t>Automating Feedback Intelligence with NLP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0" y="4758481"/>
            <a:ext cx="11430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95500" y="381000"/>
            <a:ext cx="8001000" cy="1009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300" i="0" u="none">
                <a:solidFill>
                  <a:srgbClr val="FFFFFF"/>
                </a:solidFill>
                <a:latin typeface="Outfit"/>
              </a:rPr>
              <a:t>The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750" y="1771650"/>
            <a:ext cx="952500" cy="38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190750"/>
            <a:ext cx="762000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CBD5E1"/>
                </a:solidFill>
                <a:latin typeface="Plus Jakarta Sans"/>
              </a:rPr>
              <a:t>Manual review of thousands of comments is slow, expensive, and inconsistent. We need speed to save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85912"/>
            <a:ext cx="50482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95488"/>
            <a:ext cx="5048250" cy="13791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765178"/>
            <a:ext cx="5048250" cy="13791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3150" i="0" u="none">
                <a:solidFill>
                  <a:srgbClr val="4F46E5"/>
                </a:solidFill>
                <a:latin typeface="Outfit"/>
              </a:rPr>
              <a:t>Automation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885825"/>
            <a:ext cx="67722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09005"/>
            <a:ext cx="50482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Using </a:t>
            </a:r>
            <a:r>
              <a:rPr b="1" sz="1650" i="0" u="none">
                <a:solidFill>
                  <a:srgbClr val="475569"/>
                </a:solidFill>
                <a:latin typeface="Plus Jakarta Sans"/>
              </a:rPr>
              <a:t>Python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b="1" sz="1650" i="0" u="none">
                <a:solidFill>
                  <a:srgbClr val="475569"/>
                </a:solidFill>
                <a:latin typeface="Plus Jakarta Sans"/>
              </a:rPr>
              <a:t>Natural Language Processing (NLP)</a:t>
            </a:r>
            <a:r>
              <a:rPr b="0" sz="1650" i="0" u="none">
                <a:solidFill>
                  <a:srgbClr val="475569"/>
                </a:solidFill>
                <a:latin typeface="Plus Jakarta Sans"/>
              </a:rPr>
              <a:t>, we built a pipeline to ingest raw e-commerce reviews and output actionable data.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7950" y="1662112"/>
            <a:ext cx="4895850" cy="441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3443138"/>
            <a:ext cx="478059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4F46E5"/>
                </a:solidFill>
                <a:latin typeface="Outfit"/>
              </a:rPr>
              <a:t>1.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881288"/>
            <a:ext cx="4552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Reading massive .xlsx datasets with 8,000+ entries.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5012828"/>
            <a:ext cx="478059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7C3AED"/>
                </a:solidFill>
                <a:latin typeface="Outfit"/>
              </a:rPr>
              <a:t>2. Sentiment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5450978"/>
            <a:ext cx="4552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Algorithmic segregation into Positive &amp; Negative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3150" i="0" u="none">
                <a:solidFill>
                  <a:srgbClr val="4F46E5"/>
                </a:solidFill>
                <a:latin typeface="Outfit"/>
              </a:rPr>
              <a:t>Analysis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885825"/>
            <a:ext cx="79343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9337" y="2919412"/>
            <a:ext cx="19050" cy="1905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112" y="2919412"/>
            <a:ext cx="4848225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0"/>
              </a:lnSpc>
            </a:pPr>
            <a:r>
              <a:rPr b="1" sz="12000" i="0" u="none">
                <a:solidFill>
                  <a:srgbClr val="7C3AED"/>
                </a:solidFill>
                <a:latin typeface="Plus Jakarta Sans"/>
              </a:rPr>
              <a:t>8,005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112" y="4443412"/>
            <a:ext cx="48482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2400" i="0" u="none">
                <a:solidFill>
                  <a:srgbClr val="475569"/>
                </a:solidFill>
                <a:latin typeface="Plus Jakarta Sans SemiBold"/>
              </a:rPr>
              <a:t>TOTAL COMMENTS ANALYZED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9387" y="2877740"/>
            <a:ext cx="500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Outfit"/>
              </a:rPr>
              <a:t>Massive Scale Efficiency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9387" y="3315890"/>
            <a:ext cx="47625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The Python script processed this entire dataset in less than 5 seconds, identifying critical sentiments that would take a human team days to 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3150" i="0" u="none">
                <a:solidFill>
                  <a:srgbClr val="4F46E5"/>
                </a:solidFill>
                <a:latin typeface="Outfit"/>
              </a:rPr>
              <a:t>Sentiment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885825"/>
            <a:ext cx="633412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66825"/>
            <a:ext cx="3365450" cy="35694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266825"/>
            <a:ext cx="3365450" cy="35694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266825"/>
            <a:ext cx="3365599" cy="3569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81000"/>
            <a:ext cx="112014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3150" i="0" u="none">
                <a:solidFill>
                  <a:srgbClr val="4F46E5"/>
                </a:solidFill>
                <a:latin typeface="Outfit"/>
              </a:rPr>
              <a:t>Project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885825"/>
            <a:ext cx="68008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851" y="5217318"/>
            <a:ext cx="1524297" cy="114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1657350"/>
            <a:ext cx="5715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525" y="2352675"/>
            <a:ext cx="271362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NLP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895600"/>
            <a:ext cx="25844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Python script `nlp_model.py` for automated daily sentiment tracking.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3725" y="1657350"/>
            <a:ext cx="51435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03725" y="2352675"/>
            <a:ext cx="271362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Critical 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3725" y="2895600"/>
            <a:ext cx="25844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Isolated list of 3,910 negative comments for immediate service recovery.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4925" y="165735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54925" y="2352675"/>
            <a:ext cx="2713776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Master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4925" y="2895600"/>
            <a:ext cx="2584549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Cleaned CSV dataset ready for Tableau &amp; PowerBI Dashboarding.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5742" y="1899344"/>
            <a:ext cx="4120515" cy="962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Outfit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375" y="3356669"/>
            <a:ext cx="61912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FFFFFF"/>
                </a:solidFill>
                <a:latin typeface="Plus Jakarta Sans"/>
              </a:rPr>
              <a:t>E-commerce Sentiment Analysis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2950" y="4720530"/>
            <a:ext cx="30861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FFFFF"/>
                </a:solidFill>
                <a:latin typeface="Plus Jakarta Sans"/>
              </a:rPr>
              <a:t>DATA SCIENCE | PROJECT M2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3150" i="0" u="none">
                <a:solidFill>
                  <a:srgbClr val="4F46E5"/>
                </a:solidFill>
                <a:latin typeface="Outfit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76325"/>
            <a:ext cx="822960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1838325"/>
            <a:ext cx="9525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2623095"/>
            <a:ext cx="9525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33500" y="261357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3500" y="2613570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33500" y="3596431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3596431"/>
            <a:ext cx="9525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987748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28875" y="1981200"/>
            <a:ext cx="8429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https://www.mdpi.com/sensors/sensors-25-05117/article_deploy/html/images/sensors-25-05117-g008-550.jpg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875" y="2226915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www.mdpi.com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2871638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28875" y="2765970"/>
            <a:ext cx="842962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https://static.vecteezy.com/system/resources/previews/052/382/919/non_2x/feedback-emoji-bad-and-good-review-emoticon-emoji-and-smile-emotions-scale-feedback-concept-design-set-happy-and-sad-reaction-mood-faces-for-survey-rating-icons-vector.jpg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8875" y="3209776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www.vecteezy.com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755380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875" y="3748831"/>
            <a:ext cx="842962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000000"/>
                </a:solidFill>
                <a:latin typeface="Plus Jakarta Sans"/>
              </a:rPr>
              <a:t>https://flowium.com/wp-content/uploads/2024/12/Best-Customer-Review-Platforms-1-1024x427.jpg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875" y="3994546"/>
            <a:ext cx="842962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flowium.com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